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84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Caching &amp;</a:t>
            </a:r>
            <a:br/>
            <a:r>
              <a:t>Performance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BBBBCC"/>
                </a:solidFill>
                <a:latin typeface="Calibri"/>
              </a:defRPr>
            </a:pPr>
            <a:r>
              <a:rPr dirty="0"/>
              <a:t>A Deep Dive into Speed, Scale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1206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888899"/>
                </a:solidFill>
                <a:latin typeface="Calibri"/>
              </a:defRPr>
            </a:pPr>
            <a:r>
              <a:rPr dirty="0"/>
              <a:t>Instructor: </a:t>
            </a:r>
            <a:r>
              <a:rPr lang="en-US" dirty="0"/>
              <a:t>Ifedayo Adesiyan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00C9A7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Introduction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Fundamentals of 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Types of Caches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393" y="2863215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9471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Cache Design &amp;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9763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Performance Engineering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0055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Real-World System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393" y="490347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Wrap-up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Why performance matters and why caching is essential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What is Performance?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Latency — How long a single request takes (ms, seconds)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Throughput — How many requests the system handles per unit time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Performance = delivering results quickly and efficiently at scale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Good performance is invisible; bad performance is unforgettable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Why Systems Get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Network Latency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Round-trip time between services, regions, or to external APIs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Disk I/O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Reading/writing to spinning disks or even SSDs under heavy load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CPU Bottlenecks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Expensive computations, serialization, compression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Memory Pressure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Garbage collection pauses, swapping to 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Real-World 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Amazon: Every 100 ms of latency costs ~1% in sales revenue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Google: An extra 0.5 s in search page load drops traffic by 20%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Walmart: Every 1 s improvement → +2% conversion rate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Users expect pages to load in under 2 seconds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Performance is a feature — and a competitive advantage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Caching: The Desk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Imagine you're writing a research paper…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Without cache: walk to the library every time you need a fact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With cache: keep your most-used books on your desk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Key insight: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Store frequently accessed data closer to where it's needed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Trade a little memory for a big speed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Fundamentals of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Core concepts, memory hierarchy, and locality principles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What is Caching?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Storing copies of frequently accessed data in faster storage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Goal: reduce the time &amp; cost of re-fetching or re-computing data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Caches exist at every level of a computing 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From CPU registers to continent-spanning CDNs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Core principle: exploit patterns in data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The Memory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CPU Registers   —  &lt; 1 ns         (bytes)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L1 Cache          —  ~1 ns           (KB)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L2 Cache          —  ~4 ns           (KB–MB)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L3 Cache          —  ~10 ns         (MB)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RAM                  —  ~100 ns      (GB)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SSD                    —  ~100 µs     (TB)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HDD                   —  ~10 ms       (TB)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Network             —  ~10-100 ms  (unlimited)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Memory Hierarchy: The Tradeoff Triangle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Speed vs Cost vs Size — you can only optimize two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Fast + Large = Expensive (RAM)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Cheap + Large = Slow (HDD)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Fast + Cheap = Small (CPU cache)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Caching strategy: put the RIGHT data in the RIGHT tier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Cache Hit vs Cache Miss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 Hit: requested data IS found in the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Fast path — data returned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 Miss: requested data is NOT in the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Slow path — must fetch from origin (DB, disk, network)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Data is then stored in cache for future requests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Hit Ratio = Cache Hits / Total Requests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 high hit ratio is the primary goal of any caching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Temporal vs Spatial Locality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Temporal Locality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If data was accessed recently, it will likely be accessed again soon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Example: reading a config value repeatedly during a request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Spatial Locality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If data at address X was accessed, nearby data is likely needed too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Example: iterating through an array — adjacent elements in memory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Caches are designed to exploit both types of locality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Think About It…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Why does your browser cache images and CSS files?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Temporal locality: same assets used across page visits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Why does a CPU load an entire cache line, not just one byte?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Spatial locality: nearby bytes are likely needed next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Why does Netflix pre-cache popular titles on edge servers?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Predictive caching based on access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Types of Caches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From CPU registers to distributed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1. CPU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L1 Cache: smallest, fastest (~1 ns), per-core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L2 Cache: larger, slightly slower (~4 ns), per-core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L3 Cache: shared across cores (~10 ns), several MB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Why it matters for algorithms: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Cache-friendly code (sequential access) can be 10-100x faster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than cache-unfriendly code (random access patterns)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Array iteration vs linked list traversal — huge perf difference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2. Application-Level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In-process / in-memory caching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Python: dict, functools.lru_cache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Java: HashMap, Guava Cache, Caffeine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Node.js: Map, node-cache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Advantages: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Zero network overhead — fastest possible lookup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Simple to implement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Limitations: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Not shared across processes or servers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Lost on restart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3. Web Caching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Browser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Stores static assets (images, CSS, JS) locally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Controlled by HTTP headers: Cache-Control, ETag, Expires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CDN (Content Delivery Network)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Cloudflare, Akamai, AWS CloudFront, Fastly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Caches content at edge locations worldwide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Reduces latency by serving from geographically close servers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Reverse Proxy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Varnish, Nginx — sits in front of your app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4. Database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Query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Stores results of frequently-run queries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MySQL query cache (deprecated), application-level query caching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Buffer Pool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InnoDB buffer pool keeps frequently accessed pages in RAM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Reduces disk I/O for read-heavy workloads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Materialized Views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Pre-computed query results stored as tables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Great for complex aggregations that don't change often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5. Distributed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Redis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In-memory data store, supports rich data structures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Persistence options, pub/sub, Lua scripting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Memcached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Simple key-value store, highly optimized for speed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Multi-threaded, great for simple caching use cases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Key advantages over app-level cache: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Shared across all application instances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Survives app restarts (with persistence)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Scales horizontally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Caching Layers: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╔══════════╗    ╔══════════╗    ╔══════════════╗    ╔══════════════╗    ╔════════════╗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║   User   ║ →  ║   CDN    ║ →  ║  App Cache   ║ →  ║  DB Cache    ║ →  ║  Database  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╚══════════╝    ╚══════════╝    ╚══════════════╝    ╚══════════════╝    ╚════════════╝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  Browser          Edge            Redis /            Buffer Pool       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  Cache           Servers         Memcached          Query Cache          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888899"/>
                </a:solidFill>
                <a:latin typeface="Calibri"/>
              </a:defRPr>
            </a:pPr>
            <a:r>
              <a:t>Each layer reduces load on the layer behind it — defense in depth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645920" cy="164592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Break  (10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BBBBCC"/>
                </a:solidFill>
                <a:latin typeface="Calibri"/>
              </a:defRPr>
            </a:pPr>
            <a:r>
              <a:rPr dirty="0"/>
              <a:t>Stretch, </a:t>
            </a:r>
            <a:r>
              <a:rPr lang="en-US" dirty="0"/>
              <a:t>tell your loved ones you’re still alive</a:t>
            </a:r>
            <a:r>
              <a:rPr dirty="0"/>
              <a:t>, and come back refreshed!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Cache Design &amp;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Policies, invalidation, and avoiding common pitfalls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Cache Eviction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LRU — Least Recently Used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Evicts the item that hasn't been accessed for the longest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Most commonly used policy in practice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LFU — Least Frequently Used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Evicts the item with the lowest access count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Better for skewed access patterns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FIFO — First In, First Out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Simple queue-based eviction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TTL — Time-To-Live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Items expire after a set duration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Great for data that changes on a known schedule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Cache Hit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22960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0" y="19659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FD93D"/>
                </a:solidFill>
                <a:latin typeface="Consolas"/>
              </a:defRPr>
            </a:pPr>
            <a:r>
              <a:t>Hit Rate = Cache Hits / Total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Example: 950 hits out of 1000 requests = 95% hit rate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Even small improvements in hit rate have massive impact: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90% → 95% = 50% fewer requests to the origin!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95% → 99% = 80% fewer requests to the origin!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Monitor hit rate as your #1 cache health metric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Cache Key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 good cache key is unique, deterministic, and descriptive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Bad key:  'user'                   (which user?)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Bad key:  'data'                    (what data?)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Good key: 'user:123:profile'    (specific, namespaced)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Good key: 'product:456:price:usd'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Best practices: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Use namespaces to avoid collisions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Include version if schema changes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Keep keys short but meaningful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Make keys deterministic — same input → same key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Cache Invalidation: The Hard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"There are only two hard things in CS: cache invalidation,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 naming things, and off-by-one errors." — Phil Karlton (sort of)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TTL-based: set an expiration time and let it auto-expire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Write-through: update cache AND origin simultaneously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Write-back: update cache first, async write to origin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Cache-aside (Lazy Loading): load into cache on first miss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Each strategy has tradeoffs — consistency vs performance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Write Strategies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Cache-Aside (Lazy Loading)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App checks cache → on miss, reads DB, writes to 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Pro: only caches what's needed | Con: first request always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6F61"/>
                </a:solidFill>
                <a:latin typeface="Calibri"/>
              </a:defRPr>
            </a:pPr>
            <a:r>
              <a:t>Write-Through vs Write-Back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Write-Through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Every write goes to cache AND DB simultaneously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Pro: always consistent | Con: write latency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Write-Back (Write-Behind)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Write to cache first, batch-write to DB later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    ‣  Pro: fast writes | Con: risk of data loss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Common Caching Pitfalls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Stale Data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Cache returns outdated information to users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appropriate TTLs + invalidation strategies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Cache Stampede (Thundering Herd)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Many requests hit origin simultaneously when cache expires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lock-based refresh, staggered TTLs, pre-warming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Over-Caching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Caching rarely-accessed or constantly-changing data wastes memory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monitor hit rates, cache only what benefits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Cold Start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Empty cache after deploy → all requests hit origin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cache warming / pre-loading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Performance Engineering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Metrics, measurement, and systematic optimization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What is Performance Engineering?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 systematic, measurement-driven approach to making systems fast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Not just 'make it faster' — understand WHY it's slow first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Core discipline: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Measure → Identify bottleneck → Optimize → Measure again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Premature optimization is the root of all evil — Knuth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But ignoring performance is the root of all user complaints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Key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Latency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How long a request takes (p50, p95, p99 percentiles)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Throughput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Requests per second the system can handle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Error Rate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Percentage of requests that fail (5xx, timeouts)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Resource Utilization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CPU, memory, disk I/O, network bandwidth usage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Saturation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How 'full' a resource is — queue depth, thread pool usage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Latency Distribution: Why Averages 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Average latency can hide serious problems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Example: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99 requests at 10 ms + 1 request at 10,000 ms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Average = 109 ms — looks 'fine'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But 1 in 100 users waits 10 seconds!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Always look at percentiles: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p50 = median — typical user experience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p95 = 95th percentile — 1 in 20 users see this or worse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p99 = 99th percentile — tail latency, often the real problem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Little's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22960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0" y="19659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FD93D"/>
                </a:solidFill>
                <a:latin typeface="Consolas"/>
              </a:defRPr>
            </a:pPr>
            <a:r>
              <a:t>L = λ ×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  = average number of requests in the 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λ  = arrival rate (requests per second)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  = average time each request spends in the 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Example: 100 req/s arriving, each takes 0.5s on average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→ L = 100 × 0.5 = 50 concurrent requests in 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If W increases (slower), L increases → system overloads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Bottleneck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CPU-Bound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System spends most time computing (encryption, compression, parsing)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optimize algorithms, cache computed results, scale out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I/O-Bound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System waits for disk, network, or database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caching, async I/O, connection pooling, batching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Memory-Bound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Excessive allocation, GC pressure, swapping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Solution: reduce allocations, use object pools, right-size caches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Queueing Delays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Requests waiting in line when system is near capacity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Real-World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Scaling a web app step by step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Scaling a Web App: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dirty="0"/>
              <a:t>•  Step 1: No cache — every request hits the database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rPr dirty="0"/>
              <a:t>    ‣  Problem: DB becomes bottleneck, latency spikes under load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dirty="0"/>
              <a:t>•  Step 2: Add database indexes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rPr dirty="0"/>
              <a:t>    ‣  Speeds up queries, but DB still handles every request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dirty="0"/>
              <a:t>•  Step 3: Add application cache (Redis)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rPr dirty="0"/>
              <a:t>    ‣  Frequently accessed data served from memory — huge latency drop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dirty="0"/>
              <a:t>•  Step 4: Add CDN for static assets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rPr dirty="0"/>
              <a:t>    ‣  Images, CSS, JS served from edge — reduced bandwidth &amp; latency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dirty="0"/>
              <a:t>•  Step 5: Add read replicas + cache warming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rPr dirty="0"/>
              <a:t>    ‣  Distribute read load, pre-populate cache on deploy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Architecture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Stage 1:    Client → App Server →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Stage 2:    Client → App Server → Database (with indexes)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Stage 3:    Client → App Server → Redis Cache →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Stage 4:    Client → CDN → App Server → Redis →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Stage 5:    Client → CDN → Load Balancer → App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080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Consolas"/>
              </a:defRPr>
            </a:pPr>
            <a:r>
              <a:t>                            → Redis Cluster → DB Replicas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888899"/>
                </a:solidFill>
                <a:latin typeface="Calibri"/>
              </a:defRPr>
            </a:pPr>
            <a:r>
              <a:t>Each stage addresses a specific bottleneck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The Tradeoff Triangle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Consistency vs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Strong consistency = slower (synchronous cache invalidation)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Eventual consistency = faster (async, TTL-based)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Ask: how stale can data be before users notice?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Cost vs Speed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More cache = more RAM = higher infra cost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But cheaper than losing users to slow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Complexity vs Scalability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Distributed caches add operational complexity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But enable horizontal scaling to millions of users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Case Study: Netflix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Challenge: serve 200M+ subscribers with minimal latency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EVCache: Netflix's distributed caching layer (built on Memcached)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Handles 30+ million requests/second at peak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Multi-tier caching: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Edge cache: popular content on CDN (Open Connect)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Mid-tier cache: user profiles, recommendations in EVCache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Database: source of truth, rarely hit directly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Key lesson: cache is not optional — it IS the architecture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Case Study: Twitter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Challenge: show personalized timelines to 300M+ users instantly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Fan-out on Write strategy: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When a user tweets, the tweet is pushed to all followers' timelines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Each user's timeline is a pre-computed cached list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New tweets are appended to followers' cached timelines in Redis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Exception: celebrity accounts (millions of followers)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Fan-out on Read: their tweets fetched at read-time and merged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Hybrid approach: pre-compute what you can, compute the rest on demand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Wrap-Up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Key takeaways and discussion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00C9A7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6576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03807" y="1828800"/>
            <a:ext cx="3017520" cy="2560320"/>
          </a:xfrm>
          <a:prstGeom prst="roundRect">
            <a:avLst/>
          </a:prstGeom>
          <a:solidFill>
            <a:srgbClr val="22223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6687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Caching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6687" y="30175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Caching reduces latency</a:t>
            </a:r>
            <a:br/>
            <a:r>
              <a:t>dramatically, often by</a:t>
            </a:r>
            <a:br/>
            <a:r>
              <a:t>10x–1000x. It's the single</a:t>
            </a:r>
            <a:br/>
            <a:r>
              <a:t>most impactful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7087" y="1828800"/>
            <a:ext cx="3017520" cy="2560320"/>
          </a:xfrm>
          <a:prstGeom prst="roundRect">
            <a:avLst/>
          </a:prstGeom>
          <a:solidFill>
            <a:srgbClr val="22223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9967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967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It's All Tradeoffs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30175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Cache design is about</a:t>
            </a:r>
            <a:br/>
            <a:r>
              <a:t>balancing consistency,</a:t>
            </a:r>
            <a:br/>
            <a:r>
              <a:t>cost, complexity, and</a:t>
            </a:r>
            <a:br/>
            <a:r>
              <a:t>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0367" y="1828800"/>
            <a:ext cx="3017520" cy="2560320"/>
          </a:xfrm>
          <a:prstGeom prst="roundRect">
            <a:avLst/>
          </a:prstGeom>
          <a:solidFill>
            <a:srgbClr val="22223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3247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Measure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247" y="30175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Performance engineering</a:t>
            </a:r>
            <a:br/>
            <a:r>
              <a:t>is measurement-driven.</a:t>
            </a:r>
            <a:br/>
            <a:r>
              <a:t>Never optimize without</a:t>
            </a:r>
            <a:br/>
            <a:r>
              <a:t>profiling first.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Questions to Think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When should you NOT use caching?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Data that changes on every request, security-sensitive data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What happens if the cache returns wrong data?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Users see stale prices, outdated profiles, incorrect permissions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How would you cache a social media feed?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Pre-compute timelines? Cache on read? Hybrid approach?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How do you test cache behavior?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Simulate cold starts, measure hit rates, chaos engineering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If time allows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Bonus: Hands-On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BBBBCC"/>
                </a:solidFill>
                <a:latin typeface="Calibri"/>
              </a:defRPr>
            </a:pPr>
            <a:r>
              <a:t>Optional interactive activities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Exercise 1: Simulate Cache Hits &amp; Misses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Task: build a simple cache simulator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Create a function that: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1. Accepts a sequence of data requests (e.g., page IDs)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2. Maintains a fixed-size cache (e.g., 3 items)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3. Uses LRU eviction policy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4. Counts hits and misses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5. Prints the hit ratio at the end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Input: [1, 2, 3, 1, 4, 2, 5, 1, 2, 3] with cache size 3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Expected: observe how hit ratio changes with different cache sizes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Exercise 2: Compare Cached vs Uncached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Task: measure the performance difference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Setup: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 function that simulates a slow DB lookup (sleep 200ms)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 wrapper that caches results in a dictionary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Experiment: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Run 100 requests (with repeats) WITHOUT cache → measure total time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Run 100 requests (with repeats) WITH cache → measure total time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Compare: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How much faster is the cached version?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What's the hit ratio?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Exercise 3 (Advanced): Implement LRU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Task: implement a fully functional LRU cache from scratch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Requirements: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get(key) — returns value if present, marks as recently used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put(key, value) — inserts/updates, evicts LRU if at capacity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Both operations must be O(1) time complexity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Hint: use a doubly-linked list + hash map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Linked list maintains access order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Hash map provides O(1) lookup by key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Bonus: add TTL support to your implementation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4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845EF7"/>
                </a:solidFill>
                <a:latin typeface="Calibri"/>
              </a:defRPr>
            </a:pPr>
            <a:r>
              <a:t>Python LRU Cache — Quick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84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0E0A0"/>
                </a:solidFill>
                <a:latin typeface="Consolas"/>
              </a:defRPr>
            </a:pPr>
            <a:r>
              <a:t>from functools import lru_cache</a:t>
            </a:r>
            <a:br/>
            <a:r>
              <a:t>import time</a:t>
            </a:r>
            <a:br/>
            <a:br/>
            <a:r>
              <a:t>@lru_cache(maxsize=128)</a:t>
            </a:r>
            <a:br/>
            <a:r>
              <a:t>def expensive_query(user_id):</a:t>
            </a:r>
            <a:br/>
            <a:r>
              <a:t>    time.sleep(0.2)  # simulate slow DB</a:t>
            </a:r>
            <a:br/>
            <a:r>
              <a:t>    return {"id": user_id, "name": f"User {user_id}"}</a:t>
            </a:r>
            <a:br/>
            <a:br/>
            <a:r>
              <a:t># First call — cache miss (slow)</a:t>
            </a:r>
            <a:br/>
            <a:r>
              <a:t>start = time.time()</a:t>
            </a:r>
            <a:br/>
            <a:r>
              <a:t>result = expensive_query(42)</a:t>
            </a:r>
            <a:br/>
            <a:r>
              <a:t>print(f"Miss: {time.time()-start:.3f}s")</a:t>
            </a:r>
            <a:br/>
            <a:br/>
            <a:r>
              <a:t># Second call — cache hit (fast)</a:t>
            </a:r>
            <a:br/>
            <a:r>
              <a:t>start = time.time()</a:t>
            </a:r>
            <a:br/>
            <a:r>
              <a:t>result = expensive_query(42)</a:t>
            </a:r>
            <a:br/>
            <a:r>
              <a:t>print(f"Hit:  {time.time()-start:.6f}s")</a:t>
            </a:r>
            <a:br/>
            <a:br/>
            <a:r>
              <a:t>print(expensive_query.cache_info())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00C9A7"/>
                </a:solidFill>
                <a:latin typeface="Calibri"/>
              </a:defRPr>
            </a:pPr>
            <a:r>
              <a:t>Suggested Tools &amp; 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Redis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Interactive demo: SET, GET, TTL, EXPIRE commands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Show pub/sub and data structure operations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Chrome DevTools — Network Tab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Show cached vs uncached resource loading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Demonstrate Cache-Control headers in action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Python Profiling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cProfile / py-spy for identifying bottlenecks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timeit for micro-benchmarks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Load Testing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Apache Bench (ab), wrk, k6, or Locust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BBBBCC"/>
                </a:solidFill>
                <a:latin typeface="Calibri"/>
              </a:defRPr>
            </a:pPr>
            <a:r>
              <a:t>    ‣  Show latency impact of adding/removing cache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731520"/>
            <a:ext cx="2286000" cy="2286000"/>
          </a:xfrm>
          <a:prstGeom prst="ellipse">
            <a:avLst/>
          </a:prstGeom>
          <a:solidFill>
            <a:srgbClr val="84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2560320"/>
            <a:ext cx="1371600" cy="137160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0">
                <a:solidFill>
                  <a:srgbClr val="BBBBCC"/>
                </a:solidFill>
                <a:latin typeface="Calibri"/>
              </a:defRPr>
            </a:pPr>
            <a:r>
              <a:t>Questions? Let's discuss!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Remember: Measure → Cache → Measure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888899"/>
                </a:solidFill>
                <a:latin typeface="Calibri"/>
              </a:defRPr>
            </a:pPr>
            <a:r>
              <a:rPr dirty="0"/>
              <a:t>"The fastest code is the code that never runs." — Unknown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3471</Words>
  <Application>Microsoft Macintosh PowerPoint</Application>
  <PresentationFormat>Widescreen</PresentationFormat>
  <Paragraphs>390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Ifedayo Adesiyan</cp:lastModifiedBy>
  <cp:revision>3</cp:revision>
  <dcterms:created xsi:type="dcterms:W3CDTF">2013-01-27T09:14:16Z</dcterms:created>
  <dcterms:modified xsi:type="dcterms:W3CDTF">2026-03-21T11:30:12Z</dcterms:modified>
  <cp:category/>
</cp:coreProperties>
</file>